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57200"/>
            <a:ext cx="6400800" cy="3200400"/>
          </a:xfrm>
          <a:prstGeom prst="ellipse">
            <a:avLst/>
          </a:prstGeom>
          <a:solidFill>
            <a:srgbClr val="F4A0B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097280"/>
            <a:ext cx="2743200" cy="13716"/>
          </a:xfrm>
          <a:prstGeom prst="rect">
            <a:avLst/>
          </a:prstGeom>
          <a:solidFill>
            <a:srgbClr val="F4A0B5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牙牙 YAYA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300" kern="0" dirty="0">
                <a:solidFill>
                  <a:srgbClr val="F4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守护玩偶 · 灵伴平台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pPr algn="ctr" indent="0" marL="0">
              <a:buNone/>
            </a:pPr>
            <a:r>
              <a:rPr lang="en-US" sz="2200" i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牙牙在，就不孤单</a:t>
            </a:r>
            <a:pPr algn="ctr" indent="0" marL="0">
              <a:buNone/>
            </a:pPr>
            <a:r>
              <a:rPr lang="en-US" sz="2800" dirty="0">
                <a:solidFill>
                  <a:srgbClr val="D4A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LingPal Team · 2026.08 · MoonStone Roadshow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4A0B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4A0B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城市独居女性的困境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2286000" cy="0"/>
          </a:xfrm>
          <a:prstGeom prst="line">
            <a:avLst/>
          </a:prstGeom>
          <a:noFill/>
          <a:ln w="19050">
            <a:solidFill>
              <a:srgbClr val="F4A0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4A0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情感孤独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508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独居生活中缺少倾诉对象，深夜emo无处释放。72%独居女性表示经常感到孤独。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4A0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安全焦虑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423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独居女性遭遇入室盗窃概率是普通家庭的2.3倍。睡前听到异响，却不敢去查看。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4A0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3017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健康忽视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337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经期不规律、作息紊乱、情绪低谷......缺少日常健康关怀提醒。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4A0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屏幕疲劳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4251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现有解决方案全是APP/社交软件，冰冷的屏幕无法给予真正的陪伴感。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0" y="1097280"/>
            <a:ext cx="3474720" cy="3474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03520" y="1371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4A0B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1.25亿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530352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中国独居人口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035040" y="2743200"/>
            <a:ext cx="2011680" cy="0"/>
          </a:xfrm>
          <a:prstGeom prst="line">
            <a:avLst/>
          </a:prstGeom>
          <a:noFill/>
          <a:ln w="6350">
            <a:solidFill>
              <a:srgbClr val="F4A0B5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303520" y="2971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4A8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2000万+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766560" y="299008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18-28岁独居女性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0" y="3474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4A8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766560" y="34930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经常感到孤独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0" y="3977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4A8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766560" y="39959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愿为陪伴产品付费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4A0B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三合一 · 重新定义陪伴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2286000" cy="0"/>
          </a:xfrm>
          <a:prstGeom prst="line">
            <a:avLst/>
          </a:prstGeom>
          <a:noFill/>
          <a:ln w="19050">
            <a:solidFill>
              <a:srgbClr val="F4A0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697480" cy="35204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2697480" cy="54864"/>
          </a:xfrm>
          <a:prstGeom prst="rect">
            <a:avLst/>
          </a:prstGeom>
          <a:solidFill>
            <a:srgbClr val="F4A0B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173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🧸 实体玩偶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毛绒触感 · NFC芯片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高品质毛绒材质，柔软治愈手感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内置NFC芯片，唯一身份绑定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触摸传感器，感知拥抱/抚摸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温感互动，牙牙知道你在身边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97480" cy="35204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188720"/>
            <a:ext cx="2697480" cy="54864"/>
          </a:xfrm>
          <a:prstGeom prst="rect">
            <a:avLst/>
          </a:prstGeom>
          <a:solidFill>
            <a:srgbClr val="D4A850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4173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AI 灵魂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29000" y="17830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· 记忆引擎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219456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多轮深度对话，理解你的情绪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长期记忆系统，记住你的故事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个性演化引擎，牙牙越来越懂你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声音克隆+语音通话，听见牙牙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2697480" cy="35204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188720"/>
            <a:ext cx="2697480" cy="54864"/>
          </a:xfrm>
          <a:prstGeom prst="rect">
            <a:avLst/>
          </a:prstGeom>
          <a:solidFill>
            <a:srgbClr val="7EB8D4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4173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E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安全守护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17830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红外检测 · 独居保障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219456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红外门窗入侵检测，24h监控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异常声音识别（碎窗/撬锁）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一键报警+紧急联系人通知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离家/回家安全确认流程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不只是玩具，是真正懂你、守护你的AI伙伴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4A0B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牙牙的一天 · 7大核心场景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2286000" cy="0"/>
          </a:xfrm>
          <a:prstGeom prst="line">
            <a:avLst/>
          </a:prstGeom>
          <a:noFill/>
          <a:ln w="19050">
            <a:solidFill>
              <a:srgbClr val="F4A0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011680" cy="1645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325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☀️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早安仪式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牙牙叫你起床，播报天气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和今日运势，元气满满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188720"/>
            <a:ext cx="2011680" cy="1645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1325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651760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手账日记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2057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AI自动生成图文手账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记录美好日常点滴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2011680" cy="1645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325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46320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深夜倾诉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057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全天候AI深度对话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分享喜怒哀乐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1188720"/>
            <a:ext cx="2011680" cy="1645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9440" y="1325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🌙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040880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睡前陪伴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0" y="2057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专属梦境编织+睡前故事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温柔哄你入睡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017520"/>
            <a:ext cx="2011680" cy="1645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3154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💪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57200" y="3566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健康关怀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886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经期预测+身体提醒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做你的私人小护士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0" y="3017520"/>
            <a:ext cx="2011680" cy="1645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60320" y="3154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2651760" y="3566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独居安全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651760" y="3886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24h门窗监控+异常检测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守护你的安全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017520"/>
            <a:ext cx="2011680" cy="1645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0" y="3154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✨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4846320" y="3566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成就庆祝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46320" y="3886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成长里程碑+39成就体系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牙牙为你的每一步欢呼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4A0B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技术架构全景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2286000" cy="0"/>
          </a:xfrm>
          <a:prstGeom prst="line">
            <a:avLst/>
          </a:prstGeom>
          <a:noFill/>
          <a:ln w="19050">
            <a:solidFill>
              <a:srgbClr val="F4A0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43000"/>
            <a:ext cx="109728" cy="594360"/>
          </a:xfrm>
          <a:prstGeom prst="rect">
            <a:avLst/>
          </a:prstGeom>
          <a:solidFill>
            <a:srgbClr val="F4A0B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1430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接入层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114300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微信小程序 · Web Demo · 硬件ESP32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74520"/>
            <a:ext cx="109728" cy="594360"/>
          </a:xfrm>
          <a:prstGeom prst="rect">
            <a:avLst/>
          </a:prstGeom>
          <a:solidFill>
            <a:srgbClr val="D4A85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8745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网关层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187452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 API Gateway · WebSocket · SSE流式 · JWT鉴权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606040"/>
            <a:ext cx="109728" cy="594360"/>
          </a:xfrm>
          <a:prstGeom prst="rect">
            <a:avLst/>
          </a:prstGeom>
          <a:solidFill>
            <a:srgbClr val="7EB8D4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6060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服务层 (31模块)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11680" y="260604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memory · journal · ritual · emotion · safety · voice · world · pet · social · payment · admin ...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337560"/>
            <a:ext cx="109728" cy="594360"/>
          </a:xfrm>
          <a:prstGeom prst="rect">
            <a:avLst/>
          </a:prstGeom>
          <a:solidFill>
            <a:srgbClr val="C4A0D4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3375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A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AI引擎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11680" y="333756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Chat API · 记忆提取管线 · 情绪分析 · 日记生成 · 梦境编织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069080"/>
            <a:ext cx="109728" cy="594360"/>
          </a:xfrm>
          <a:prstGeom prst="rect">
            <a:avLst/>
          </a:prstGeom>
          <a:solidFill>
            <a:srgbClr val="7ECB9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0690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11680" y="406908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pgvector · Redis 7 · MinIO 对象存储 · WebSocket实时通道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645152"/>
            <a:ext cx="8046720" cy="18288"/>
          </a:xfrm>
          <a:prstGeom prst="rect">
            <a:avLst/>
          </a:prstGeom>
          <a:solidFill>
            <a:srgbClr val="F4A0B5">
              <a:alpha val="7000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4A0B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AI灵魂 · 不只是聊天机器人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2286000" cy="0"/>
          </a:xfrm>
          <a:prstGeom prst="line">
            <a:avLst/>
          </a:prstGeom>
          <a:noFill/>
          <a:ln w="19050">
            <a:solidFill>
              <a:srgbClr val="F4A0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37560" y="1965960"/>
            <a:ext cx="2468880" cy="2468880"/>
          </a:xfrm>
          <a:prstGeom prst="ellipse">
            <a:avLst/>
          </a:prstGeom>
          <a:solidFill>
            <a:srgbClr val="F4A0B5">
              <a:alpha val="15000"/>
            </a:srgbClr>
          </a:solidFill>
          <a:ln w="25400">
            <a:solidFill>
              <a:srgbClr val="F4A0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28600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4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2103120" cy="960120"/>
          </a:xfrm>
          <a:prstGeom prst="rect">
            <a:avLst/>
          </a:prstGeom>
          <a:solidFill>
            <a:srgbClr val="1A1A1A"/>
          </a:solidFill>
          <a:ln w="6350">
            <a:solidFill>
              <a:srgbClr val="F4A0B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3533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多轮对话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62763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上下文感知，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情感共鸣回应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83680" y="1280160"/>
            <a:ext cx="2103120" cy="960120"/>
          </a:xfrm>
          <a:prstGeom prst="rect">
            <a:avLst/>
          </a:prstGeom>
          <a:solidFill>
            <a:srgbClr val="1A1A1A"/>
          </a:solidFill>
          <a:ln w="6350">
            <a:solidFill>
              <a:srgbClr val="D4A85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0" y="13533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记忆系统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0" y="162763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pgvector语义存储，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记住你说过的一切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2103120" cy="960120"/>
          </a:xfrm>
          <a:prstGeom prst="rect">
            <a:avLst/>
          </a:prstGeom>
          <a:solidFill>
            <a:srgbClr val="1A1A1A"/>
          </a:solidFill>
          <a:ln w="6350">
            <a:solidFill>
              <a:srgbClr val="7EB8D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3649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E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情绪分析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6393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实时情绪识别，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趋势追踪+急救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3291840"/>
            <a:ext cx="2103120" cy="960120"/>
          </a:xfrm>
          <a:prstGeom prst="rect">
            <a:avLst/>
          </a:prstGeom>
          <a:solidFill>
            <a:srgbClr val="1A1A1A"/>
          </a:solidFill>
          <a:ln w="6350">
            <a:solidFill>
              <a:srgbClr val="C4A0D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33649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A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内容生成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36393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日记/梦境/周信，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7种AI原创内容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777240"/>
            <a:ext cx="2103120" cy="960120"/>
          </a:xfrm>
          <a:prstGeom prst="rect">
            <a:avLst/>
          </a:prstGeom>
          <a:solidFill>
            <a:srgbClr val="1A1A1A"/>
          </a:solidFill>
          <a:ln w="6350">
            <a:solidFill>
              <a:srgbClr val="7ECB9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29000" y="8503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EC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声音克隆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29000" y="11247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5种牙牙专属音色，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Chatterbox TTS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37560" y="4023360"/>
            <a:ext cx="2103120" cy="960120"/>
          </a:xfrm>
          <a:prstGeom prst="rect">
            <a:avLst/>
          </a:prstGeom>
          <a:solidFill>
            <a:srgbClr val="1A1A1A"/>
          </a:solidFill>
          <a:ln w="6350">
            <a:solidFill>
              <a:srgbClr val="E8B87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29000" y="40965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自主行为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29000" y="437083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21物种宠物引擎，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无需指令自主活动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4A0B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功能矩阵 · 全面覆盖陪伴场景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2286000" cy="0"/>
          </a:xfrm>
          <a:prstGeom prst="line">
            <a:avLst/>
          </a:prstGeom>
          <a:noFill/>
          <a:ln w="19050">
            <a:solidFill>
              <a:srgbClr val="F4A0B5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017520"/>
                <a:gridCol w="228600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模块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核心功能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AI能力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状态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💬 对话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SSE流式多轮对话·上下文记忆·情感感知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Chat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ECB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就绪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🧠 记忆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语义搜索·核心事实提取·记忆时间线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pgvector + 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ECB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就绪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📓 日记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AI生成图文手账·情绪标签·时间轴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LLM分析+模板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ECB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就绪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🌅 仪式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早安/晚安·睡前故事·每日话题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LLM生成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ECB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就绪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💖 情绪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趋势追踪·情绪报告·急救干预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NLP情感分析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ECB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就绪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🏠 安全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门窗入侵检测·异常声音·一键报警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IoT传感器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4A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⚙️ 模拟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🌍 世界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3D探索·21物种·NFC实体绑定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自主行为引擎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ECB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就绪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🎤 语音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声音克隆·实时通话·TTS合成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Chatterbox TTS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ECB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就绪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👑 社交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好友·拜访·闺蜜配对·内容广场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推荐算法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ECB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就绪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模拟 = 硬件模拟器已就绪，等待ESP32联调   |   全部31个模块编译通过，0错误0警告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4A0B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市场机会 · 千亿情感经济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2286000" cy="0"/>
          </a:xfrm>
          <a:prstGeom prst="line">
            <a:avLst/>
          </a:prstGeom>
          <a:noFill/>
          <a:ln w="19050">
            <a:solidFill>
              <a:srgbClr val="F4A0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1097280"/>
            <a:ext cx="4572000" cy="804672"/>
          </a:xfrm>
          <a:prstGeom prst="rect">
            <a:avLst/>
          </a:prstGeom>
          <a:solidFill>
            <a:srgbClr val="1A1A1A"/>
          </a:solidFill>
          <a:ln w="12700">
            <a:solidFill>
              <a:srgbClr val="F4A0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11704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总可寻址市场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77440" y="138988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¥360亿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840480" y="1508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中国情感陪伴经济（宠物/心理咨询/社交/娱乐）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17320" y="2103120"/>
            <a:ext cx="5943600" cy="804672"/>
          </a:xfrm>
          <a:prstGeom prst="rect">
            <a:avLst/>
          </a:prstGeom>
          <a:solidFill>
            <a:srgbClr val="1A1A1A"/>
          </a:solidFill>
          <a:ln w="12700">
            <a:solidFill>
              <a:srgbClr val="D4A8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217627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可服务市场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91640" y="239572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¥120亿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154680" y="2514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AI陪伴+智能硬件+独居女性消费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7315200" cy="804672"/>
          </a:xfrm>
          <a:prstGeom prst="rect">
            <a:avLst/>
          </a:prstGeom>
          <a:solidFill>
            <a:srgbClr val="1A1A1A"/>
          </a:solidFill>
          <a:ln w="12700">
            <a:solidFill>
              <a:srgbClr val="7EB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182112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可获得市场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4015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¥6亿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468880" y="3520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1%渗透率 × 2000万目标用户 × ¥300年ARPU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4069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市场驱动力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3159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中国独居人口年增12%，2027年将超1.5亿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43159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AI陪伴接受度：68%年轻人愿意尝试AI朋友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6360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🧸 潮玩市场爆发：盲盒+毛绒玩具超800亿/年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46360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微信小程序生态：12亿MAU·零安装成本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4A0B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竞品分析 · 牙牙的差异化优势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2286000" cy="0"/>
          </a:xfrm>
          <a:prstGeom prst="line">
            <a:avLst/>
          </a:prstGeom>
          <a:noFill/>
          <a:ln w="19050">
            <a:solidFill>
              <a:srgbClr val="F4A0B5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8595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155448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🧸 牙牙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小爱同学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天猫精灵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实体形态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A0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毛绒玩偶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纯APP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智能音箱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智能音箱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AI情感深度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A0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独居安全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A0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红外+声音检测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长期记忆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A0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pgvector语义记忆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声音克隆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A0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5种专属音色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社交裂变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A0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闺蜜配对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目标人群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A0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18-28岁独居女性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全年龄段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全年龄段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全年龄段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价格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A0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¥79-129/实体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免费+€7.99/月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¥199+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B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¥99+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480560"/>
            <a:ext cx="8595360" cy="365760"/>
          </a:xfrm>
          <a:prstGeom prst="rect">
            <a:avLst/>
          </a:prstGeom>
          <a:solidFill>
            <a:srgbClr val="F4A0B5">
              <a:alpha val="1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牙牙是唯一同时覆盖「实体毛绒陪伴 + AI情感深度 + 独居安全」的产品 —— 三个维度都做到极致，形成不可替代的交叉优势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4A0B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商业模式 · 软硬一体化变现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2286000" cy="0"/>
          </a:xfrm>
          <a:prstGeom prst="line">
            <a:avLst/>
          </a:prstGeom>
          <a:noFill/>
          <a:ln w="19050">
            <a:solidFill>
              <a:srgbClr val="F4A0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2011680" cy="22860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011680" cy="54864"/>
          </a:xfrm>
          <a:prstGeom prst="rect">
            <a:avLst/>
          </a:prstGeom>
          <a:solidFill>
            <a:srgbClr val="F4A0B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🧸 实体销售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¥79-129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508760" y="2011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/个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4688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牙牙毛绒玩偶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内置NFC+传感器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毛利率 55-65%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1188720"/>
            <a:ext cx="2011680" cy="22860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188720"/>
            <a:ext cx="2011680" cy="54864"/>
          </a:xfrm>
          <a:prstGeom prst="rect">
            <a:avLst/>
          </a:prstGeom>
          <a:solidFill>
            <a:srgbClr val="D4A850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盲盒系列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06040" y="17830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¥39-79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03320" y="2011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/个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06040" y="24688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灵伴世界21物种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4层级稀有度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收藏驱动复购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188720"/>
            <a:ext cx="2011680" cy="22860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188720"/>
            <a:ext cx="2011680" cy="54864"/>
          </a:xfrm>
          <a:prstGeom prst="rect">
            <a:avLst/>
          </a:prstGeom>
          <a:solidFill>
            <a:srgbClr val="7EB8D4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会员订阅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17830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¥19.9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897880" y="2011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24688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灵伴+高级特权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无限AI对话·专属音色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高级梦境定制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0" y="1188720"/>
            <a:ext cx="2011680" cy="22860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0" y="1188720"/>
            <a:ext cx="2011680" cy="54864"/>
          </a:xfrm>
          <a:prstGeom prst="rect">
            <a:avLst/>
          </a:prstGeom>
          <a:solidFill>
            <a:srgbClr val="C4A0D4"/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赛季手册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17830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¥68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092440" y="2011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/季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95160" y="24688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限定皮肤+成就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社交排行榜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限定联名活动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749040"/>
            <a:ext cx="8595360" cy="10058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7947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单用户年ARPU ¥</a:t>
            </a:r>
            <a:pPr indent="0" marL="0">
              <a:buNone/>
            </a:pPr>
            <a:r>
              <a:rPr lang="en-US" sz="3200" b="1" dirty="0">
                <a:solidFill>
                  <a:srgbClr val="F4A0B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280-380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3931920"/>
            <a:ext cx="0" cy="640080"/>
          </a:xfrm>
          <a:prstGeom prst="line">
            <a:avLst/>
          </a:prstGeom>
          <a:noFill/>
          <a:ln w="6350">
            <a:solidFill>
              <a:srgbClr val="6660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37947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首年营收目标 ¥</a:t>
            </a:r>
            <a:pPr indent="0" marL="0">
              <a:buNone/>
            </a:pPr>
            <a:r>
              <a:rPr lang="en-US" sz="2800" b="1" dirty="0">
                <a:solidFill>
                  <a:srgbClr val="D4A8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500-800万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3931920"/>
            <a:ext cx="0" cy="640080"/>
          </a:xfrm>
          <a:prstGeom prst="line">
            <a:avLst/>
          </a:prstGeom>
          <a:noFill/>
          <a:ln w="6350">
            <a:solidFill>
              <a:srgbClr val="6660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37947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获客成本 CAC ¥</a:t>
            </a:r>
            <a:pPr indent="0" marL="0">
              <a:buNone/>
            </a:pPr>
            <a:r>
              <a:rPr lang="en-US" sz="2800" b="1" dirty="0">
                <a:solidFill>
                  <a:srgbClr val="7ECB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25-35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4A0B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市场策略 · 冷启到规模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2286000" cy="0"/>
          </a:xfrm>
          <a:prstGeom prst="line">
            <a:avLst/>
          </a:prstGeom>
          <a:noFill/>
          <a:ln w="19050">
            <a:solidFill>
              <a:srgbClr val="F4A0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3200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914400" cy="292608"/>
          </a:xfrm>
          <a:prstGeom prst="rect">
            <a:avLst/>
          </a:prstGeom>
          <a:solidFill>
            <a:srgbClr val="F4A0B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258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1325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M1-M3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种子冷启动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小红书种草：100位独居生活KOC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私域社群：微信核心用户群运营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抖音短视频：牙牙日常内容矩阵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种子赠品：首批500个体验官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目标: 5,000用户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188720"/>
            <a:ext cx="2743200" cy="3200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325880"/>
            <a:ext cx="914400" cy="292608"/>
          </a:xfrm>
          <a:prstGeom prst="rect">
            <a:avLst/>
          </a:prstGeom>
          <a:solidFill>
            <a:srgbClr val="D4A850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3258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0" y="1325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M4-M9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社交裂变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83280" y="21945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💑 闺蜜配对：邀请好友解锁双人特权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分享卡片：AI手账一键发朋友圈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🎶 声音克隆UGC：录一段牙牙专属问候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实体开箱：小红书拆箱潮引发跟风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4069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目标: 50,000用户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188720"/>
            <a:ext cx="2743200" cy="3200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1325880"/>
            <a:ext cx="914400" cy="292608"/>
          </a:xfrm>
          <a:prstGeom prst="rect">
            <a:avLst/>
          </a:prstGeom>
          <a:solidFill>
            <a:srgbClr val="7EB8D4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3258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0" y="1325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M10-M18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品牌破圈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09360" y="21945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品牌联名：潮玩IP×美妆×生活方式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明星合作：女性艺人专属牙牙定制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线下快闪：独居女孩的城市疗愈站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综艺植入：独居生活综艺品牌露出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4069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目标: 300,000用户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4A0B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开发进展 · 48小时黑客松成果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2286000" cy="0"/>
          </a:xfrm>
          <a:prstGeom prst="line">
            <a:avLst/>
          </a:prstGeom>
          <a:noFill/>
          <a:ln w="19050">
            <a:solidFill>
              <a:srgbClr val="F4A0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201168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371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A0B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154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Go源文件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1188720"/>
            <a:ext cx="201168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371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6888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201168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371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EB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144+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6344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API端点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1188720"/>
            <a:ext cx="201168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1371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A0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~20K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85800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代码行数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743200"/>
            <a:ext cx="201168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2926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ECB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27432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468880" y="2743200"/>
            <a:ext cx="201168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468880" y="2926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B8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13页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246888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小程序前端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2743200"/>
            <a:ext cx="201168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2926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ECB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466344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编译警告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0" y="2743200"/>
            <a:ext cx="201168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0" y="2926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A0B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48h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685800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从策划到就绪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434840"/>
            <a:ext cx="8595360" cy="365760"/>
          </a:xfrm>
          <a:prstGeom prst="rect">
            <a:avLst/>
          </a:prstGeom>
          <a:solidFill>
            <a:srgbClr val="F4A0B5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2天完成：产品策划 → 架构设计 → 全栈实现 → AI集成 → 编译就绪 — Go Monorepo·双后端·微信小程序·DeepSeek流式对话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4A0B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发展路线图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2286000" cy="0"/>
          </a:xfrm>
          <a:prstGeom prst="line">
            <a:avLst/>
          </a:prstGeom>
          <a:noFill/>
          <a:ln w="19050">
            <a:solidFill>
              <a:srgbClr val="F4A0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77440"/>
            <a:ext cx="7680960" cy="0"/>
          </a:xfrm>
          <a:prstGeom prst="line">
            <a:avLst/>
          </a:prstGeom>
          <a:noFill/>
          <a:ln w="25400">
            <a:solidFill>
              <a:srgbClr val="F4A0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2240280"/>
            <a:ext cx="274320" cy="274320"/>
          </a:xfrm>
          <a:prstGeom prst="ellipse">
            <a:avLst/>
          </a:prstGeom>
          <a:solidFill>
            <a:srgbClr val="F4A0B5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1371600"/>
            <a:ext cx="1828800" cy="320040"/>
          </a:xfrm>
          <a:prstGeom prst="rect">
            <a:avLst/>
          </a:prstGeom>
          <a:solidFill>
            <a:srgbClr val="F4A0B5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内测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74320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微信小程序真机测试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核心对话+记忆+日记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300名种子用户体验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硬件原型ESP32联调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2240280"/>
            <a:ext cx="274320" cy="274320"/>
          </a:xfrm>
          <a:prstGeom prst="ellipse">
            <a:avLst/>
          </a:prstGeom>
          <a:solidFill>
            <a:srgbClr val="D4A850"/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1371600"/>
            <a:ext cx="1828800" cy="320040"/>
          </a:xfrm>
          <a:prstGeom prst="rect">
            <a:avLst/>
          </a:prstGeom>
          <a:solidFill>
            <a:srgbClr val="D4A850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正式发布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274320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微信小程序上架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牙牙毛绒首批量产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声音克隆+语音通话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闺蜜配对社交裂变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60920" y="2240280"/>
            <a:ext cx="274320" cy="274320"/>
          </a:xfrm>
          <a:prstGeom prst="ellipse">
            <a:avLst/>
          </a:prstGeom>
          <a:solidFill>
            <a:srgbClr val="7EB8D4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0" y="1371600"/>
            <a:ext cx="1828800" cy="320040"/>
          </a:xfrm>
          <a:prstGeom prst="rect">
            <a:avLst/>
          </a:prstGeom>
          <a:solidFill>
            <a:srgbClr val="7EB8D4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Q1-Q2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规模化增长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274320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灵伴世界3D小游戏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品牌联名×IP合作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AI定制硬件v2.0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日韩/东南亚出海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4A0B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融资需求 · 天使轮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2286000" cy="0"/>
          </a:xfrm>
          <a:prstGeom prst="line">
            <a:avLst/>
          </a:prstGeom>
          <a:noFill/>
          <a:ln w="19050">
            <a:solidFill>
              <a:srgbClr val="F4A0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4114800" cy="2011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3716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A0B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¥ 300-500万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9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天使轮融资 · 出让10-15%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2606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投后估值 3,000-5,000万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2011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资金用途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研发团队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1792224"/>
            <a:ext cx="1389888" cy="164592"/>
          </a:xfrm>
          <a:prstGeom prst="rect">
            <a:avLst/>
          </a:prstGeom>
          <a:solidFill>
            <a:srgbClr val="F4A0B5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084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硬件开模+量产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2139696"/>
            <a:ext cx="868680" cy="164592"/>
          </a:xfrm>
          <a:prstGeom prst="rect">
            <a:avLst/>
          </a:prstGeom>
          <a:solidFill>
            <a:srgbClr val="D4A850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20848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4323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市场推广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0" y="2487168"/>
            <a:ext cx="694944" cy="164592"/>
          </a:xfrm>
          <a:prstGeom prst="rect">
            <a:avLst/>
          </a:prstGeom>
          <a:solidFill>
            <a:srgbClr val="7EB8D4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24323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E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7797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运营+合规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0" y="2834640"/>
            <a:ext cx="521208" cy="164592"/>
          </a:xfrm>
          <a:prstGeom prst="rect">
            <a:avLst/>
          </a:prstGeom>
          <a:solidFill>
            <a:srgbClr val="7ECB9A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27797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EC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本轮达成目标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11480" y="393192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微信小程序正式上架，DAU 3,000+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牙牙毛绒玩偶首批量产5,000个，售罄率 &gt; 80%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完成付费订阅闭环，月付费率 &gt; 5%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用户月留存 &gt; 40%，NPS &gt; 50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团队扩展至15人（研发8 + 运营4 + 硬件3）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57200"/>
            <a:ext cx="6400800" cy="3200400"/>
          </a:xfrm>
          <a:prstGeom prst="ellipse">
            <a:avLst/>
          </a:prstGeom>
          <a:solidFill>
            <a:srgbClr val="F4A0B5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D4A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pPr algn="ctr" indent="0" marL="0">
              <a:buNone/>
            </a:pPr>
            <a:r>
              <a:rPr lang="en-US" sz="3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牙牙在，就不孤单</a:t>
            </a:r>
            <a:pPr algn="ctr" indent="0" marL="0">
              <a:buNone/>
            </a:pPr>
            <a:r>
              <a:rPr lang="en-US" sz="4000" dirty="0">
                <a:solidFill>
                  <a:srgbClr val="D4A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F4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用AI温暖每一位独居女孩的日常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</a:t>
            </a:r>
            <a:pPr algn="ctr" indent="0" marL="0">
              <a:buNone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hello@lingpal.ai</a:t>
            </a:r>
            <a:pPr algn="ctr" indent="0" marL="0">
              <a:buNone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algn="ctr" indent="0" marL="0">
              <a:buNone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</a:t>
            </a:r>
            <a:pPr algn="ctr" indent="0" marL="0">
              <a:buNone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github.com/Lukex-Collab/Yaya</a:t>
            </a:r>
            <a:pPr algn="ctr" indent="0" marL="0">
              <a:buNone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algn="ctr" indent="0" marL="0">
              <a:buNone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</a:t>
            </a:r>
            <a:pPr algn="ctr" indent="0" marL="0">
              <a:buNone/>
            </a:pPr>
            <a:r>
              <a:rPr lang="en-US" sz="1100" dirty="0">
                <a:solidFill>
                  <a:srgbClr val="C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微信小程序：灵伴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4023360"/>
            <a:ext cx="2743200" cy="502920"/>
          </a:xfrm>
          <a:prstGeom prst="rect">
            <a:avLst/>
          </a:prstGeom>
          <a:solidFill>
            <a:srgbClr val="F4A0B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4023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🧸 一起，让牙牙守护更多人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4A0B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牙牙 Yaya — AI守护玩偶 · 路演演示</dc:title>
  <dc:subject>PptxGenJS Presentation</dc:subject>
  <dc:creator>LingPal Team</dc:creator>
  <cp:lastModifiedBy>LingPal Team</cp:lastModifiedBy>
  <cp:revision>1</cp:revision>
  <dcterms:created xsi:type="dcterms:W3CDTF">2026-08-02T10:26:44Z</dcterms:created>
  <dcterms:modified xsi:type="dcterms:W3CDTF">2026-08-02T10:26:44Z</dcterms:modified>
</cp:coreProperties>
</file>